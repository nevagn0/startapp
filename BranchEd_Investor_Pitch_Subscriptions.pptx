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1AA122-A4FA-4FDE-BB92-26290E774F10}">
  <a:tblStyle styleId="{361AA122-A4FA-4FDE-BB92-26290E774F1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bold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Текст выступления: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Мы создаём BranchEd для подготовки курсовых и дипломов. Наша цель — сократить ручное оформление и сделать проверку работы понятной студенту и руководителю.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и пояснения: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Название BranchEd подтверждено пользователем. В репозитории проект называется DiplomaGit. Логотип предоставлен пользователем.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Текст выступления: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После каждой правки студент снова проверяет оформление, а руководитель сверяет версии и замечания. Мы хотим убрать эту повторяющуюся работу из процесса подготовки.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и пояснения: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Источник: docs/product-requirements.md, назначение, документы, проверка и комментарии. Пользовательские интервью и измерения экономии времени не предоставлены.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Текст выступления: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 основе продукта — структурный редактор. Автор выбирает шаблон и работает с содержанием. Система отвечает за оформление, нумерацию и подготовку файла к сдаче.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и пояснения: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docs/product-requirements.md: Приоритеты реализации; docs/document-versioning.md: модель редактора. Это целевые функции, не утверждение о доступном релизе.</a:t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Текст выступления: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Дальше мы объединяем версии, замечания руководителя и доступ по ролям. Студент видит историю своей работы, а группа использует согласованные правила оформления.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и пояснения: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docs/product-requirements.md: группы, документы, проверка и комментарии, форматирование; docs/document-versioning.md. Системный профиль ГОСТ не заменяет требования конкретного вуза.</a:t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Текст выступления: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Word силён как универсальный редактор, Overleaf — как среда для LaTeX. Наша ниша — учебная работа с заданными правилами оформления и понятным циклом проверки.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и пояснения: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Microsoft: https://support.microsoft.com/en-us/word/training/collaborate-in-word ; https://support.microsoft.com/en-us/word/training/track-changes-in-word . Overleaf: https://www.overleaf.com/for/universities . Проверено 29.09.2026. Сопоставлены основные сценарии, а не отсутствие функций у конкурентов. Отличия BranchEd относятся к целевому продукту.</a:t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Текст выступления: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 России около четырёх с половиной миллионов студентов. Начинаем с тех, кто уже готовит курсовую или ВКР. Привлекать первые группы планируем через руководителей.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и пояснения: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https://m.minobrnauki.gov.ru/press-center/news/novosti-ministerstva/95016/ . Оценка общей аудитории из выступления 2025 года, не оценка текущего TAM в деньгах. Канал привлечения — гипотеза.</a:t>
            </a:r>
            <a:endParaRPr/>
          </a:p>
        </p:txBody>
      </p:sp>
      <p:sp>
        <p:nvSpPr>
          <p:cNvPr id="83" name="Google Shape;8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Текст выступления: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У нас четыре подписки. Базовая даёт редактор и настройку структуры с фиксированным ГОСТ. Индивидуальная Pro добавляет AI и облачное хранилище. Групповые тарифы дают общий лимит сто или триста участников, а объём хранилища зависит от численности групп. Дополнительное место продаётся отдельно.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и пояснения: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Тарифы уточнены пользователем 29.09.2026 и закреплены в docs/subscriptions.md. Лимиты 100 и 300 общие для всех групп создателя. Групповая Pro увеличивает хранилище и распространяет функционал на участников его групп. Полный перечень распространяемых функций ещё требует уточнения, поэтому слайд не обещает конкретные AI-права участникам групп. Сохраняется ранее принятое право Индивидуальной Pro на настройку личного стиля из docs/product-requirements.md. Цены, числовые объёмы хранилища, формула расчёта и возможность покупки мест сверх лимитов пока не определены. Тарифная система ещё не реализована.</a:t>
            </a:r>
            <a:endParaRPr/>
          </a:p>
        </p:txBody>
      </p:sp>
      <p:sp>
        <p:nvSpPr>
          <p:cNvPr id="98" name="Google Shape;9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Текст выступления: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 сайте есть первые посещения: двенадцать пользователей и пятнадцать просмотров за показанный период. Это ранний сигнал, поэтому следующая проверка — завершённые работы и готовность платить.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и пояснения: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Предоставленный пользователем скриншот branched.ru за 18–25.09.2026: 12 посетителей, 10 новых, 15 просмотров, глубина 1,3. Посетители сайта не равны зарегистрированным или платящим пользователям. Проценты роста не интерпретируем: период сравнения не указан.</a:t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Текст выступления: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Нас четверо. Команда закрывает серверную и клиентскую разработку, аналитику и тестирование. У нас уже есть серверная основа. Следующая веха — редактор и надёжный экспорт для пилота.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и пояснения: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Имена и роли предоставлены пользователем. Подтверждение технической основы: DiplomaGit/DiplomaGit/Controllers/UsersController.cs, GroupsController.cs; DiplomaGit/DiplomaGit.Application/Groups/GroupService.cs. Документация о групповых use cases отстаёт от кода. Наличие кода не доказывает готовность сквозного сценария.</a:t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Текст выступления: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 учебном сценарии мы привлекаем полтора миллиона рублей на шесть месяцев. Цель — рабочий продукт, пятьдесят завершённых работ и первые десять оплат. Ищем инвестора для обсуждения пилота.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 и пояснения: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Сумма, срок, распределение бюджета и цели пилота — явно обозначенные учебные допущения автора презентации, а не заявленные командой факты. 900 + 300 + 300 = 1500 тыс. рублей. Доли: 60%, 20%, 20%. Условия сделки не утверждены. Домен взят с предоставленного скриншота, контактное лицо неизвестно.</a:t>
            </a:r>
            <a:endParaRPr/>
          </a:p>
        </p:txBody>
      </p:sp>
      <p:sp>
        <p:nvSpPr>
          <p:cNvPr id="164" name="Google Shape;16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096625" y="6238875"/>
            <a:ext cx="40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" y="1057275"/>
            <a:ext cx="7286625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8100"/>
              <a:buFont typeface="Quattrocento Sans"/>
              <a:buNone/>
            </a:pPr>
            <a:r>
              <a:rPr b="0" lang="en-US" sz="810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BranchEd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23900" y="2857500"/>
            <a:ext cx="733425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3600"/>
              <a:buFont typeface="Quattrocento Sans"/>
              <a:buNone/>
            </a:pPr>
            <a:r>
              <a:rPr b="0" lang="en-US" sz="360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Учебная работа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3600"/>
              <a:buFont typeface="Quattrocento Sans"/>
              <a:buNone/>
            </a:pPr>
            <a:r>
              <a:rPr b="0" lang="en-US" sz="3600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без ручной вёрстки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23900" y="4686300"/>
            <a:ext cx="7239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950"/>
              <a:buFont typeface="Quattrocento Sans"/>
              <a:buNone/>
            </a:pPr>
            <a:r>
              <a:rPr b="0" lang="en-US" sz="1950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Подготовка, оформление и проверка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950"/>
              <a:buFont typeface="Quattrocento Sans"/>
              <a:buNone/>
            </a:pPr>
            <a:r>
              <a:rPr b="0" lang="en-US" sz="1950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курсовых и дипломов в одном сервисе</a:t>
            </a:r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0" y="1762125"/>
            <a:ext cx="398145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685800" y="6219825"/>
            <a:ext cx="10001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branched.ru    /    Инвестиционная презентация    /    Сентябрь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F8FB"/>
            </a:gs>
            <a:gs pos="100000">
              <a:srgbClr val="FFFFFF"/>
            </a:gs>
          </a:gsLst>
          <a:lin ang="1200000" scaled="0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1096625" y="6238875"/>
            <a:ext cx="40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685800" y="571500"/>
            <a:ext cx="106680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3375"/>
              <a:buFont typeface="Quattrocento Sans"/>
              <a:buNone/>
            </a:pPr>
            <a:r>
              <a:rPr b="1" lang="en-US" sz="3375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Проблема: оформление и проверка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3375"/>
              <a:buFont typeface="Quattrocento Sans"/>
              <a:buNone/>
            </a:pPr>
            <a:r>
              <a:rPr b="1" lang="en-US" sz="3375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отвлекают от содержания</a:t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23900" y="2286000"/>
            <a:ext cx="4762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2025"/>
              <a:buFont typeface="Quattrocento Sans"/>
              <a:buNone/>
            </a:pPr>
            <a:r>
              <a:rPr b="1" lang="en-US" sz="202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Студент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23900" y="2905125"/>
            <a:ext cx="4905375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Вручную исправляет стили,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нумерацию и ссылки после правок.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Хранит несколько копий работы.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572250" y="2286000"/>
            <a:ext cx="48577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2025"/>
              <a:buFont typeface="Quattrocento Sans"/>
              <a:buNone/>
            </a:pPr>
            <a:r>
              <a:rPr b="1" lang="en-US" sz="202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Руководитель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572250" y="2905125"/>
            <a:ext cx="4905375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Сверяет файлы и замечания.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Уточняет, какую именно версию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студент отправил на проверку.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23900" y="5162550"/>
            <a:ext cx="102870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2325"/>
              <a:buFont typeface="Quattrocento Sans"/>
              <a:buNone/>
            </a:pPr>
            <a:r>
              <a:rPr b="0" lang="en-US" sz="2325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Повторная сдача создаёт новый цикл тех же действий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85800" y="6219825"/>
            <a:ext cx="10001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Рабочая гипотеза проблемы. Частоту и затраты времени нужно измерить на пилоте.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92238"/>
            </a:gs>
            <a:gs pos="100000">
              <a:srgbClr val="333B56"/>
            </a:gs>
          </a:gsLst>
          <a:lin ang="1500000" scaled="0"/>
        </a:gra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11096625" y="6238875"/>
            <a:ext cx="40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EC5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A5AE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85800" y="552450"/>
            <a:ext cx="105727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Quattrocento Sans"/>
              <a:buNone/>
            </a:pPr>
            <a:r>
              <a:rPr b="1" lang="en-US" sz="33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Продукт: структура задаёт оформление</a:t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685800" y="1952625"/>
            <a:ext cx="933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BCDF"/>
              </a:buClr>
              <a:buSzPts val="5700"/>
              <a:buFont typeface="Quattrocento Sans"/>
              <a:buNone/>
            </a:pPr>
            <a:r>
              <a:rPr b="0" lang="en-US" sz="5700">
                <a:solidFill>
                  <a:srgbClr val="B5BCD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1847850" y="2133600"/>
            <a:ext cx="3810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Quattrocento Sans"/>
              <a:buNone/>
            </a:pPr>
            <a:r>
              <a:rPr b="1" lang="en-US" sz="21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Шаблон работы</a:t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1847850" y="2705100"/>
            <a:ext cx="3857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3E2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CCD3E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Разделы и подсказки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3E2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CCD3E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помогают начать документ.</a:t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6648450" y="1952625"/>
            <a:ext cx="933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BCDF"/>
              </a:buClr>
              <a:buSzPts val="5700"/>
              <a:buFont typeface="Quattrocento Sans"/>
              <a:buNone/>
            </a:pPr>
            <a:r>
              <a:rPr b="0" lang="en-US" sz="5700">
                <a:solidFill>
                  <a:srgbClr val="B5BCD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7810500" y="2133600"/>
            <a:ext cx="3810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Quattrocento Sans"/>
              <a:buNone/>
            </a:pPr>
            <a:r>
              <a:rPr b="1" lang="en-US" sz="21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Содержание</a:t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7810500" y="2705100"/>
            <a:ext cx="3857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3E2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CCD3E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Автор пишет текст и добавляет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3E2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CCD3E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рисунки, таблицы и источники.</a:t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85800" y="3943350"/>
            <a:ext cx="933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BCDF"/>
              </a:buClr>
              <a:buSzPts val="5700"/>
              <a:buFont typeface="Quattrocento Sans"/>
              <a:buNone/>
            </a:pPr>
            <a:r>
              <a:rPr b="0" lang="en-US" sz="5700">
                <a:solidFill>
                  <a:srgbClr val="B5BCD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1847850" y="4124325"/>
            <a:ext cx="3810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Quattrocento Sans"/>
              <a:buNone/>
            </a:pPr>
            <a:r>
              <a:rPr b="1" lang="en-US" sz="21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Автоформатирование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1847850" y="4695825"/>
            <a:ext cx="3857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3E2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CCD3E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Система применяет стиль,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3E2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CCD3E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содержание и нумерацию.</a:t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648450" y="3943350"/>
            <a:ext cx="933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BCDF"/>
              </a:buClr>
              <a:buSzPts val="5700"/>
              <a:buFont typeface="Quattrocento Sans"/>
              <a:buNone/>
            </a:pPr>
            <a:r>
              <a:rPr b="0" lang="en-US" sz="5700">
                <a:solidFill>
                  <a:srgbClr val="B5BCD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7810500" y="4124325"/>
            <a:ext cx="38100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Quattrocento Sans"/>
              <a:buNone/>
            </a:pPr>
            <a:r>
              <a:rPr b="1" lang="en-US" sz="21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Готовый документ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7810500" y="4695825"/>
            <a:ext cx="38576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3E2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CCD3E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Проверка правил, предпросмотр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D3E2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CCD3E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 экспорт в DOCX / PDF.</a:t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685800" y="6219825"/>
            <a:ext cx="10001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EC5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A5AE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Целевая первая версия. Редактор и экспорт находятся в плане разработки.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F8FB"/>
            </a:gs>
            <a:gs pos="100000">
              <a:srgbClr val="FFFFFF"/>
            </a:gs>
          </a:gsLst>
          <a:lin ang="1200000" scaled="0"/>
        </a:gra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11096625" y="6238875"/>
            <a:ext cx="40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685800" y="657225"/>
            <a:ext cx="3105150" cy="212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3150"/>
              <a:buFont typeface="Quattrocento Sans"/>
              <a:buNone/>
            </a:pPr>
            <a:r>
              <a:rPr b="1" lang="en-US" sz="315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Преимущества для учебного процесса</a:t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4429125" y="800100"/>
            <a:ext cx="7029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2025"/>
              <a:buFont typeface="Quattrocento Sans"/>
              <a:buNone/>
            </a:pPr>
            <a:r>
              <a:rPr b="1" lang="en-US" sz="202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Единые правила</a:t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4429125" y="1247775"/>
            <a:ext cx="6819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Профиль оформления заменяет ручную настройку каждого абзаца.</a:t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4429125" y="2066925"/>
            <a:ext cx="7029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2025"/>
              <a:buFont typeface="Quattrocento Sans"/>
              <a:buNone/>
            </a:pPr>
            <a:r>
              <a:rPr b="1" lang="en-US" sz="202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Сохранённые версии</a:t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4429125" y="2514600"/>
            <a:ext cx="6819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Контрольные точки фиксируют документ и историю изменений.</a:t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4429125" y="3333750"/>
            <a:ext cx="7029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2025"/>
              <a:buFont typeface="Quattrocento Sans"/>
              <a:buNone/>
            </a:pPr>
            <a:r>
              <a:rPr b="1" lang="en-US" sz="202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Проверка в контексте</a:t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4429125" y="3781425"/>
            <a:ext cx="6819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Комментарии и статус проверки относятся к конкретной версии.</a:t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4429125" y="4600575"/>
            <a:ext cx="7029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2025"/>
              <a:buFont typeface="Quattrocento Sans"/>
              <a:buNone/>
            </a:pPr>
            <a:r>
              <a:rPr b="1" lang="en-US" sz="202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Управляемый доступ</a:t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4429125" y="5048250"/>
            <a:ext cx="6819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Личное пространство и группы с ролями автора и проверяющего.</a:t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685800" y="6219825"/>
            <a:ext cx="10001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Целевая модель. Профили кафедр учитывают локальные требования к оформлению.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F8FB"/>
            </a:gs>
            <a:gs pos="100000">
              <a:srgbClr val="FFFFFF"/>
            </a:gs>
          </a:gsLst>
          <a:lin ang="1200000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11096625" y="6238875"/>
            <a:ext cx="40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685800" y="552450"/>
            <a:ext cx="1047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3225"/>
              <a:buFont typeface="Quattrocento Sans"/>
              <a:buNone/>
            </a:pPr>
            <a:r>
              <a:rPr b="1" lang="en-US" sz="3225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Конкуренция: фокус на сдаче учебной работы</a:t>
            </a:r>
            <a:endParaRPr/>
          </a:p>
        </p:txBody>
      </p:sp>
      <p:graphicFrame>
        <p:nvGraphicFramePr>
          <p:cNvPr id="78" name="Google Shape;78;p7"/>
          <p:cNvGraphicFramePr/>
          <p:nvPr/>
        </p:nvGraphicFramePr>
        <p:xfrm>
          <a:off x="609600" y="195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{361AA122-A4FA-4FDE-BB92-26290E774F10}</a:tableStyleId>
              </a:tblPr>
              <a:tblGrid>
                <a:gridCol w="2514600"/>
                <a:gridCol w="4143375"/>
                <a:gridCol w="4314825"/>
              </a:tblGrid>
              <a:tr h="77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575"/>
                        <a:buFont typeface="Quattrocento Sans"/>
                        <a:buNone/>
                      </a:pPr>
                      <a:r>
                        <a:rPr b="1" lang="en-US" sz="1575" u="none" cap="none" strike="noStrike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Подход</a:t>
                      </a:r>
                      <a:endParaRPr/>
                    </a:p>
                  </a:txBody>
                  <a:tcPr marT="142875" marB="123825" marR="152400" marL="1524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575"/>
                        <a:buFont typeface="Quattrocento Sans"/>
                        <a:buNone/>
                      </a:pPr>
                      <a:r>
                        <a:rPr b="1" lang="en-US" sz="1575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Основная ценность</a:t>
                      </a:r>
                      <a:endParaRPr/>
                    </a:p>
                  </a:txBody>
                  <a:tcPr marT="142875" marB="123825" marR="152400" marL="152400"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75"/>
                        <a:buFont typeface="Quattrocento Sans"/>
                        <a:buNone/>
                      </a:pPr>
                      <a:r>
                        <a:rPr b="1" lang="en-US" sz="1575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Фокус BranchEd</a:t>
                      </a:r>
                      <a:endParaRPr/>
                    </a:p>
                  </a:txBody>
                  <a:tcPr marT="142875" marB="123825" marR="152400" marL="152400"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56618E"/>
                    </a:solidFill>
                  </a:tcPr>
                </a:tc>
              </a:tr>
              <a:tr h="77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1" lang="en-US" sz="1725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Microsoft Word</a:t>
                      </a:r>
                      <a:endParaRPr/>
                    </a:p>
                  </a:txBody>
                  <a:tcPr marT="142875" marB="123825" marR="152400" marL="1524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Редактирование, совместная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работа и исправления</a:t>
                      </a:r>
                      <a:endParaRPr/>
                    </a:p>
                  </a:txBody>
                  <a:tcPr marT="142875" marB="123825" marR="152400" marL="152400"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42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252D4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Управляемое оформление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42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252D4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 профилю работы</a:t>
                      </a:r>
                      <a:endParaRPr/>
                    </a:p>
                  </a:txBody>
                  <a:tcPr marT="142875" marB="123825" marR="152400" marL="152400"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AF0F8"/>
                    </a:solidFill>
                  </a:tcPr>
                </a:tc>
              </a:tr>
              <a:tr h="77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1" lang="en-US" sz="1725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Overleaf</a:t>
                      </a:r>
                      <a:endParaRPr/>
                    </a:p>
                  </a:txBody>
                  <a:tcPr marT="142875" marB="123825" marR="152400" marL="1524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Совместная подготовка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документов в LaTeX</a:t>
                      </a:r>
                      <a:endParaRPr/>
                    </a:p>
                  </a:txBody>
                  <a:tcPr marT="142875" marB="123825" marR="152400" marL="152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42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252D4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Работа с содержанием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42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252D4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без освоения LaTeX</a:t>
                      </a:r>
                      <a:endParaRPr/>
                    </a:p>
                  </a:txBody>
                  <a:tcPr marT="142875" marB="123825" marR="152400" marL="152400"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EAF0F8"/>
                    </a:solidFill>
                  </a:tcPr>
                </a:tc>
              </a:tr>
              <a:tr h="77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1" lang="en-US" sz="1725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Файлы и переписка</a:t>
                      </a:r>
                      <a:endParaRPr/>
                    </a:p>
                  </a:txBody>
                  <a:tcPr marT="142875" marB="123825" marR="152400" marL="1524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Привычный способ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14A60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414A6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обмена документами</a:t>
                      </a:r>
                      <a:endParaRPr/>
                    </a:p>
                  </a:txBody>
                  <a:tcPr marT="142875" marB="123825" marR="152400" marL="152400"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42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252D4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Версия и её обсуждение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52D42"/>
                        </a:buClr>
                        <a:buSzPts val="1725"/>
                        <a:buFont typeface="Quattrocento Sans"/>
                        <a:buNone/>
                      </a:pPr>
                      <a:r>
                        <a:rPr b="0" lang="en-US" sz="1725">
                          <a:solidFill>
                            <a:srgbClr val="252D4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 одном процессе</a:t>
                      </a:r>
                      <a:endParaRPr/>
                    </a:p>
                  </a:txBody>
                  <a:tcPr marT="142875" marB="123825" marR="152400" marL="152400"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79;p7"/>
          <p:cNvSpPr/>
          <p:nvPr/>
        </p:nvSpPr>
        <p:spPr>
          <a:xfrm>
            <a:off x="723900" y="5381625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Наше отличие: согласованный учебный процесс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 оформлением по заданным правилам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F8FB"/>
            </a:gs>
            <a:gs pos="100000">
              <a:srgbClr val="FFFFFF"/>
            </a:gs>
          </a:gsLst>
          <a:lin ang="1200000" scaled="0"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11096625" y="6238875"/>
            <a:ext cx="40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685800" y="552450"/>
            <a:ext cx="105727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3300"/>
              <a:buFont typeface="Quattrocento Sans"/>
              <a:buNone/>
            </a:pPr>
            <a:r>
              <a:rPr b="1" lang="en-US" sz="330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Рынок и первые пользователи</a:t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647700" y="1752600"/>
            <a:ext cx="5905500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7800"/>
              <a:buFont typeface="Quattrocento Sans"/>
              <a:buNone/>
            </a:pPr>
            <a:r>
              <a:rPr b="0" lang="en-US" sz="7800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≈4,5 млн</a:t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723900" y="3257550"/>
            <a:ext cx="5238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2325"/>
              <a:buFont typeface="Quattrocento Sans"/>
              <a:buNone/>
            </a:pPr>
            <a:r>
              <a:rPr b="0" lang="en-US" sz="2325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студентов в России</a:t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>
            <a:off x="723900" y="4219575"/>
            <a:ext cx="51054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800"/>
              <a:buFont typeface="Quattrocento Sans"/>
              <a:buNone/>
            </a:pPr>
            <a:r>
              <a:rPr b="0" lang="en-US" sz="1800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Ориентир масштаба аудитории.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800"/>
              <a:buFont typeface="Quattrocento Sans"/>
              <a:buNone/>
            </a:pPr>
            <a:r>
              <a:rPr b="0" lang="en-US" sz="1800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Не все студенты станут клиентами.</a:t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7010400" y="2152650"/>
            <a:ext cx="4457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1875"/>
              <a:buFont typeface="Quattrocento Sans"/>
              <a:buNone/>
            </a:pPr>
            <a:r>
              <a:rPr b="1" lang="en-US" sz="187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Первый сегмент</a:t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7010400" y="2724150"/>
            <a:ext cx="443865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Студенты, которые готовят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курсовую или ВКР по шаблону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2100"/>
              <a:buFont typeface="Quattrocento Sans"/>
              <a:buNone/>
            </a:pPr>
            <a:r>
              <a:rPr b="0" lang="en-US" sz="2100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своей кафедры.</a:t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7010400" y="4476750"/>
            <a:ext cx="4419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1875"/>
              <a:buFont typeface="Quattrocento Sans"/>
              <a:buNone/>
            </a:pPr>
            <a:r>
              <a:rPr b="1" lang="en-US" sz="187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Выход на рынок</a:t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7010400" y="5000625"/>
            <a:ext cx="44196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Пилоты через руководителей,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затем рекомендации внутри групп.</a:t>
            </a:r>
            <a:endParaRPr/>
          </a:p>
        </p:txBody>
      </p:sp>
      <p:sp>
        <p:nvSpPr>
          <p:cNvPr id="94" name="Google Shape;94;p8"/>
          <p:cNvSpPr/>
          <p:nvPr/>
        </p:nvSpPr>
        <p:spPr>
          <a:xfrm>
            <a:off x="685800" y="6219825"/>
            <a:ext cx="10001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Минобрнауки, выступление министра в 2025 г. Платёжеспособный сегмент ещё предстоит оценить.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F8FB"/>
            </a:gs>
            <a:gs pos="100000">
              <a:srgbClr val="FFFFFF"/>
            </a:gs>
          </a:gsLst>
          <a:lin ang="1200000" scaled="0"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/>
          <p:nvPr/>
        </p:nvSpPr>
        <p:spPr>
          <a:xfrm>
            <a:off x="609600" y="457200"/>
            <a:ext cx="109728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Подписки для личной и групповой работы</a:t>
            </a:r>
            <a:endParaRPr/>
          </a:p>
        </p:txBody>
      </p:sp>
      <p:sp>
        <p:nvSpPr>
          <p:cNvPr id="101" name="Google Shape;101;p9"/>
          <p:cNvSpPr/>
          <p:nvPr/>
        </p:nvSpPr>
        <p:spPr>
          <a:xfrm>
            <a:off x="628650" y="1143000"/>
            <a:ext cx="10763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Модель монетизации. Цены и точные объёмы хранилища ещё не определены.</a:t>
            </a: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609600" y="1685925"/>
            <a:ext cx="2552700" cy="3590925"/>
          </a:xfrm>
          <a:prstGeom prst="roundRect">
            <a:avLst>
              <a:gd fmla="val 6716" name="adj"/>
            </a:avLst>
          </a:prstGeom>
          <a:solidFill>
            <a:srgbClr val="FFFFFF"/>
          </a:solidFill>
          <a:ln cap="flat" cmpd="sng" w="9525">
            <a:solidFill>
              <a:srgbClr val="E0E4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"/>
          <p:cNvSpPr/>
          <p:nvPr/>
        </p:nvSpPr>
        <p:spPr>
          <a:xfrm>
            <a:off x="3352800" y="1685925"/>
            <a:ext cx="2552700" cy="3590925"/>
          </a:xfrm>
          <a:prstGeom prst="roundRect">
            <a:avLst>
              <a:gd fmla="val 6716" name="adj"/>
            </a:avLst>
          </a:prstGeom>
          <a:solidFill>
            <a:srgbClr val="F0F3FA"/>
          </a:solidFill>
          <a:ln cap="flat" cmpd="sng" w="9525">
            <a:solidFill>
              <a:srgbClr val="DB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6096000" y="1685925"/>
            <a:ext cx="2552700" cy="3590925"/>
          </a:xfrm>
          <a:prstGeom prst="roundRect">
            <a:avLst>
              <a:gd fmla="val 6716" name="adj"/>
            </a:avLst>
          </a:prstGeom>
          <a:solidFill>
            <a:srgbClr val="FFFFFF"/>
          </a:solidFill>
          <a:ln cap="flat" cmpd="sng" w="9525">
            <a:solidFill>
              <a:srgbClr val="E0E4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"/>
          <p:cNvSpPr/>
          <p:nvPr/>
        </p:nvSpPr>
        <p:spPr>
          <a:xfrm>
            <a:off x="8839200" y="1685925"/>
            <a:ext cx="2552700" cy="3590925"/>
          </a:xfrm>
          <a:prstGeom prst="roundRect">
            <a:avLst>
              <a:gd fmla="val 6716" name="adj"/>
            </a:avLst>
          </a:prstGeom>
          <a:solidFill>
            <a:srgbClr val="303B59"/>
          </a:solidFill>
          <a:ln cap="flat" cmpd="sng" w="9525">
            <a:solidFill>
              <a:srgbClr val="303B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819150" y="1924050"/>
            <a:ext cx="2133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Базовая</a:t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819150" y="2695575"/>
            <a:ext cx="21431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ГОСТ 7.32</a:t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819150" y="3476625"/>
            <a:ext cx="21145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Редактор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документов</a:t>
            </a:r>
            <a:endParaRPr/>
          </a:p>
        </p:txBody>
      </p:sp>
      <p:sp>
        <p:nvSpPr>
          <p:cNvPr id="109" name="Google Shape;109;p9"/>
          <p:cNvSpPr/>
          <p:nvPr/>
        </p:nvSpPr>
        <p:spPr>
          <a:xfrm>
            <a:off x="819150" y="4276725"/>
            <a:ext cx="21145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Настройка структуры</a:t>
            </a:r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819150" y="4867275"/>
            <a:ext cx="2114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Без выбора стиля</a:t>
            </a:r>
            <a:endParaRPr/>
          </a:p>
        </p:txBody>
      </p:sp>
      <p:sp>
        <p:nvSpPr>
          <p:cNvPr id="111" name="Google Shape;111;p9"/>
          <p:cNvSpPr/>
          <p:nvPr/>
        </p:nvSpPr>
        <p:spPr>
          <a:xfrm>
            <a:off x="3562350" y="1905000"/>
            <a:ext cx="2143125" cy="676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Индивидуальная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</a:t>
            </a:r>
            <a:endParaRPr/>
          </a:p>
        </p:txBody>
      </p:sp>
      <p:sp>
        <p:nvSpPr>
          <p:cNvPr id="112" name="Google Shape;112;p9"/>
          <p:cNvSpPr/>
          <p:nvPr/>
        </p:nvSpPr>
        <p:spPr>
          <a:xfrm>
            <a:off x="3562350" y="2695575"/>
            <a:ext cx="21526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+ облако</a:t>
            </a: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3562350" y="3476625"/>
            <a:ext cx="21145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AI-функции</a:t>
            </a: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3562350" y="3886200"/>
            <a:ext cx="213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Расширенное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хранилище в облаке</a:t>
            </a:r>
            <a:endParaRPr/>
          </a:p>
        </p:txBody>
      </p:sp>
      <p:sp>
        <p:nvSpPr>
          <p:cNvPr id="115" name="Google Shape;115;p9"/>
          <p:cNvSpPr/>
          <p:nvPr/>
        </p:nvSpPr>
        <p:spPr>
          <a:xfrm>
            <a:off x="3562350" y="4610100"/>
            <a:ext cx="2133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Настройка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личного стиля</a:t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>
            <a:off x="6305550" y="1924050"/>
            <a:ext cx="2133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Групповая</a:t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6276975" y="2505075"/>
            <a:ext cx="21240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50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</a:t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6305550" y="3257550"/>
            <a:ext cx="2133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участников суммарно</a:t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6305550" y="3752850"/>
            <a:ext cx="2133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Групповые функции</a:t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6305550" y="4314825"/>
            <a:ext cx="2133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Хранилище по числу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участников группы</a:t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9048750" y="1924050"/>
            <a:ext cx="21526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Групповая Pro</a:t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9020175" y="2505075"/>
            <a:ext cx="2133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50">
                <a:solidFill>
                  <a:srgbClr val="C6CEE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300</a:t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9048750" y="3257550"/>
            <a:ext cx="2133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C2CBE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участников суммарно</a:t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9048750" y="3752850"/>
            <a:ext cx="213360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 ф</a:t>
            </a:r>
            <a:r>
              <a:rPr b="0" lang="en-US" sz="16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ункционал для всех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участников групп</a:t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9048750" y="4543425"/>
            <a:ext cx="2133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5DCE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Больше облачного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D5DCE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хранилища</a:t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628650" y="5438775"/>
            <a:ext cx="108204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4651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 / 300 участников на все группы создателя. Распределение по группам свободное.</a:t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628650" y="5772150"/>
            <a:ext cx="107632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Цена групповой подписки зависит от выбранного ожидаемого числа участников.</a:t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609600" y="6229350"/>
            <a:ext cx="10267950" cy="400050"/>
          </a:xfrm>
          <a:prstGeom prst="roundRect">
            <a:avLst>
              <a:gd fmla="val 23810" name="adj"/>
            </a:avLst>
          </a:prstGeom>
          <a:solidFill>
            <a:srgbClr val="E7EB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781050" y="6286500"/>
            <a:ext cx="9953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Дополнительно: покупка объёма облачного хранилища отдельно от подписки</a:t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11096625" y="6296025"/>
            <a:ext cx="40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/>
          <p:nvPr/>
        </p:nvSpPr>
        <p:spPr>
          <a:xfrm>
            <a:off x="11096625" y="6238875"/>
            <a:ext cx="40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685800" y="552450"/>
            <a:ext cx="10668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3300"/>
              <a:buFont typeface="Quattrocento Sans"/>
              <a:buNone/>
            </a:pPr>
            <a:r>
              <a:rPr b="1" lang="en-US" sz="330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Первые данные: 12 посетителей сайта</a:t>
            </a:r>
            <a:endParaRPr/>
          </a:p>
        </p:txBody>
      </p:sp>
      <p:pic>
        <p:nvPicPr>
          <p:cNvPr id="138" name="Google Shape;1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676400"/>
            <a:ext cx="7575995" cy="476011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/>
          <p:nvPr/>
        </p:nvSpPr>
        <p:spPr>
          <a:xfrm>
            <a:off x="8763000" y="1752600"/>
            <a:ext cx="2762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725"/>
              <a:buFont typeface="Quattrocento Sans"/>
              <a:buNone/>
            </a:pPr>
            <a:r>
              <a:rPr b="0" lang="en-US" sz="17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18–25 сентября 2026</a:t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8705850" y="2476500"/>
            <a:ext cx="2667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6000"/>
              <a:buFont typeface="Quattrocento Sans"/>
              <a:buNone/>
            </a:pPr>
            <a:r>
              <a:rPr b="0" lang="en-US" sz="6000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8763000" y="3524250"/>
            <a:ext cx="2686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1725"/>
              <a:buFont typeface="Quattrocento Sans"/>
              <a:buNone/>
            </a:pPr>
            <a:r>
              <a:rPr b="0" lang="en-US" sz="1725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новых посетителей</a:t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8705850" y="3924300"/>
            <a:ext cx="26670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62A1"/>
              </a:buClr>
              <a:buSzPts val="6000"/>
              <a:buFont typeface="Quattrocento Sans"/>
              <a:buNone/>
            </a:pPr>
            <a:r>
              <a:rPr b="0" lang="en-US" sz="6000">
                <a:solidFill>
                  <a:srgbClr val="5862A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8763000" y="4953000"/>
            <a:ext cx="26860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4A60"/>
              </a:buClr>
              <a:buSzPts val="1725"/>
              <a:buFont typeface="Quattrocento Sans"/>
              <a:buNone/>
            </a:pPr>
            <a:r>
              <a:rPr b="0" lang="en-US" sz="1725">
                <a:solidFill>
                  <a:srgbClr val="414A6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просмотров</a:t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8763000" y="5543550"/>
            <a:ext cx="27146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650"/>
              <a:buFont typeface="Quattrocento Sans"/>
              <a:buNone/>
            </a:pPr>
            <a:r>
              <a:rPr b="0" lang="en-US" sz="1650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Ранний трафик.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650"/>
              <a:buFont typeface="Quattrocento Sans"/>
              <a:buNone/>
            </a:pPr>
            <a:r>
              <a:rPr b="0" lang="en-US" sz="1650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Спрос и оплаты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650"/>
              <a:buFont typeface="Quattrocento Sans"/>
              <a:buNone/>
            </a:pPr>
            <a:r>
              <a:rPr b="0" lang="en-US" sz="1650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ещё не подтверждены.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F8FB"/>
            </a:gs>
            <a:gs pos="100000">
              <a:srgbClr val="FFFFFF"/>
            </a:gs>
          </a:gsLst>
          <a:lin ang="1200000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/>
          <p:nvPr/>
        </p:nvSpPr>
        <p:spPr>
          <a:xfrm>
            <a:off x="11096625" y="6238875"/>
            <a:ext cx="40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</a:t>
            </a:r>
            <a:endParaRPr/>
          </a:p>
        </p:txBody>
      </p:sp>
      <p:sp>
        <p:nvSpPr>
          <p:cNvPr id="151" name="Google Shape;151;p11"/>
          <p:cNvSpPr/>
          <p:nvPr/>
        </p:nvSpPr>
        <p:spPr>
          <a:xfrm>
            <a:off x="685800" y="552450"/>
            <a:ext cx="105727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3300"/>
              <a:buFont typeface="Quattrocento Sans"/>
              <a:buNone/>
            </a:pPr>
            <a:r>
              <a:rPr b="1" lang="en-US" sz="330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Команда BranchEd</a:t>
            </a:r>
            <a:endParaRPr/>
          </a:p>
        </p:txBody>
      </p:sp>
      <p:sp>
        <p:nvSpPr>
          <p:cNvPr id="152" name="Google Shape;152;p11"/>
          <p:cNvSpPr/>
          <p:nvPr/>
        </p:nvSpPr>
        <p:spPr>
          <a:xfrm>
            <a:off x="723900" y="2095500"/>
            <a:ext cx="48958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2400"/>
              <a:buFont typeface="Quattrocento Sans"/>
              <a:buNone/>
            </a:pPr>
            <a:r>
              <a:rPr b="1" lang="en-US" sz="240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Кондрашин Илья</a:t>
            </a:r>
            <a:endParaRPr/>
          </a:p>
        </p:txBody>
      </p:sp>
      <p:sp>
        <p:nvSpPr>
          <p:cNvPr id="153" name="Google Shape;153;p11"/>
          <p:cNvSpPr/>
          <p:nvPr/>
        </p:nvSpPr>
        <p:spPr>
          <a:xfrm>
            <a:off x="723900" y="2743200"/>
            <a:ext cx="48577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Тимлид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Бэкенд-разработка</a:t>
            </a:r>
            <a:endParaRPr/>
          </a:p>
        </p:txBody>
      </p:sp>
      <p:sp>
        <p:nvSpPr>
          <p:cNvPr id="154" name="Google Shape;154;p11"/>
          <p:cNvSpPr/>
          <p:nvPr/>
        </p:nvSpPr>
        <p:spPr>
          <a:xfrm>
            <a:off x="6705600" y="2095500"/>
            <a:ext cx="48958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2400"/>
              <a:buFont typeface="Quattrocento Sans"/>
              <a:buNone/>
            </a:pPr>
            <a:r>
              <a:rPr b="1" lang="en-US" sz="240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Шиндяпкин Михаил</a:t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6705600" y="2743200"/>
            <a:ext cx="48577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Бэкенд-разработка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Системное администрирование</a:t>
            </a:r>
            <a:endParaRPr/>
          </a:p>
        </p:txBody>
      </p:sp>
      <p:sp>
        <p:nvSpPr>
          <p:cNvPr id="156" name="Google Shape;156;p11"/>
          <p:cNvSpPr/>
          <p:nvPr/>
        </p:nvSpPr>
        <p:spPr>
          <a:xfrm>
            <a:off x="723900" y="4095750"/>
            <a:ext cx="48958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2400"/>
              <a:buFont typeface="Quattrocento Sans"/>
              <a:buNone/>
            </a:pPr>
            <a:r>
              <a:rPr b="1" lang="en-US" sz="240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Пивоваров Александр</a:t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723900" y="4743450"/>
            <a:ext cx="48577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Бэкенд-разработка BFF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Продуктовая аналитика</a:t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6705600" y="4095750"/>
            <a:ext cx="48958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42"/>
              </a:buClr>
              <a:buSzPts val="2400"/>
              <a:buFont typeface="Quattrocento Sans"/>
              <a:buNone/>
            </a:pPr>
            <a:r>
              <a:rPr b="1" lang="en-US" sz="2400">
                <a:solidFill>
                  <a:srgbClr val="252D4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Стасенко Илья</a:t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6705600" y="4743450"/>
            <a:ext cx="48577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Фронтенд-разработка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Тестирование</a:t>
            </a:r>
            <a:endParaRPr/>
          </a:p>
        </p:txBody>
      </p:sp>
      <p:sp>
        <p:nvSpPr>
          <p:cNvPr id="160" name="Google Shape;160;p11"/>
          <p:cNvSpPr/>
          <p:nvPr/>
        </p:nvSpPr>
        <p:spPr>
          <a:xfrm>
            <a:off x="685800" y="6219825"/>
            <a:ext cx="100012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27B8D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727B8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Основа в коде: пользователи, группы и роли. Следующий этап: редактор, экспорт и пилот.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92238"/>
            </a:gs>
            <a:gs pos="100000">
              <a:srgbClr val="333B56"/>
            </a:gs>
          </a:gsLst>
          <a:lin ang="1500000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/>
          <p:nvPr/>
        </p:nvSpPr>
        <p:spPr>
          <a:xfrm>
            <a:off x="11096625" y="6238875"/>
            <a:ext cx="409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EC5"/>
              </a:buClr>
              <a:buSzPts val="1125"/>
              <a:buFont typeface="Quattrocento Sans"/>
              <a:buNone/>
            </a:pPr>
            <a:r>
              <a:rPr b="0" lang="en-US" sz="1125">
                <a:solidFill>
                  <a:srgbClr val="A5AE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167" name="Google Shape;167;p12"/>
          <p:cNvSpPr/>
          <p:nvPr/>
        </p:nvSpPr>
        <p:spPr>
          <a:xfrm>
            <a:off x="685800" y="552450"/>
            <a:ext cx="105727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Quattrocento Sans"/>
              <a:buNone/>
            </a:pPr>
            <a:r>
              <a:rPr b="1" lang="en-US" sz="33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Инвестиции на запуск пилота</a:t>
            </a:r>
            <a:endParaRPr/>
          </a:p>
        </p:txBody>
      </p:sp>
      <p:sp>
        <p:nvSpPr>
          <p:cNvPr id="168" name="Google Shape;168;p12"/>
          <p:cNvSpPr/>
          <p:nvPr/>
        </p:nvSpPr>
        <p:spPr>
          <a:xfrm>
            <a:off x="619125" y="1819275"/>
            <a:ext cx="63531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25"/>
              <a:buFont typeface="Quattrocento Sans"/>
              <a:buNone/>
            </a:pPr>
            <a:r>
              <a:rPr b="0" lang="en-US" sz="7425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1,5 млн ₽</a:t>
            </a:r>
            <a:endParaRPr/>
          </a:p>
        </p:txBody>
      </p:sp>
      <p:sp>
        <p:nvSpPr>
          <p:cNvPr id="169" name="Google Shape;169;p12"/>
          <p:cNvSpPr/>
          <p:nvPr/>
        </p:nvSpPr>
        <p:spPr>
          <a:xfrm>
            <a:off x="723900" y="3152775"/>
            <a:ext cx="561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BCDF"/>
              </a:buClr>
              <a:buSzPts val="2400"/>
              <a:buFont typeface="Quattrocento Sans"/>
              <a:buNone/>
            </a:pPr>
            <a:r>
              <a:rPr b="0" lang="en-US" sz="2400">
                <a:solidFill>
                  <a:srgbClr val="B5BCD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 6 месяцев</a:t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723900" y="4114800"/>
            <a:ext cx="566737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2D5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B9C2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Учебный сценарий для бизнес-ангела.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2D5"/>
              </a:buClr>
              <a:buSzPts val="1875"/>
              <a:buFont typeface="Quattrocento Sans"/>
              <a:buNone/>
            </a:pPr>
            <a:r>
              <a:rPr b="0" lang="en-US" sz="1875">
                <a:solidFill>
                  <a:srgbClr val="B9C2D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Доля и условия обсуждаются отдельно.</a:t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7362825" y="2114550"/>
            <a:ext cx="4095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BCDF"/>
              </a:buClr>
              <a:buSzPts val="2550"/>
              <a:buFont typeface="Quattrocento Sans"/>
              <a:buNone/>
            </a:pPr>
            <a:r>
              <a:rPr b="0" lang="en-US" sz="2550">
                <a:solidFill>
                  <a:srgbClr val="B5BCD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900 тыс. ₽</a:t>
            </a:r>
            <a:endParaRPr/>
          </a:p>
        </p:txBody>
      </p:sp>
      <p:sp>
        <p:nvSpPr>
          <p:cNvPr id="172" name="Google Shape;172;p12"/>
          <p:cNvSpPr/>
          <p:nvPr/>
        </p:nvSpPr>
        <p:spPr>
          <a:xfrm>
            <a:off x="7400925" y="2590800"/>
            <a:ext cx="4057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D8E7"/>
              </a:buClr>
              <a:buSzPts val="1800"/>
              <a:buFont typeface="Quattrocento Sans"/>
              <a:buNone/>
            </a:pPr>
            <a:r>
              <a:rPr b="0" lang="en-US" sz="1800">
                <a:solidFill>
                  <a:srgbClr val="D3D8E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Редактор и экспорт</a:t>
            </a: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7362825" y="3162300"/>
            <a:ext cx="4095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BCDF"/>
              </a:buClr>
              <a:buSzPts val="2550"/>
              <a:buFont typeface="Quattrocento Sans"/>
              <a:buNone/>
            </a:pPr>
            <a:r>
              <a:rPr b="0" lang="en-US" sz="2550">
                <a:solidFill>
                  <a:srgbClr val="B5BCD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300 тыс. ₽</a:t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7400925" y="3638550"/>
            <a:ext cx="4057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D8E7"/>
              </a:buClr>
              <a:buSzPts val="1800"/>
              <a:buFont typeface="Quattrocento Sans"/>
              <a:buNone/>
            </a:pPr>
            <a:r>
              <a:rPr b="0" lang="en-US" sz="1800">
                <a:solidFill>
                  <a:srgbClr val="D3D8E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Пилот и поддержка</a:t>
            </a:r>
            <a:endParaRPr/>
          </a:p>
        </p:txBody>
      </p:sp>
      <p:sp>
        <p:nvSpPr>
          <p:cNvPr id="175" name="Google Shape;175;p12"/>
          <p:cNvSpPr/>
          <p:nvPr/>
        </p:nvSpPr>
        <p:spPr>
          <a:xfrm>
            <a:off x="7362825" y="4210050"/>
            <a:ext cx="40957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BCDF"/>
              </a:buClr>
              <a:buSzPts val="2550"/>
              <a:buFont typeface="Quattrocento Sans"/>
              <a:buNone/>
            </a:pPr>
            <a:r>
              <a:rPr b="0" lang="en-US" sz="2550">
                <a:solidFill>
                  <a:srgbClr val="B5BCD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300 тыс. ₽</a:t>
            </a:r>
            <a:endParaRPr/>
          </a:p>
        </p:txBody>
      </p:sp>
      <p:sp>
        <p:nvSpPr>
          <p:cNvPr id="176" name="Google Shape;176;p12"/>
          <p:cNvSpPr/>
          <p:nvPr/>
        </p:nvSpPr>
        <p:spPr>
          <a:xfrm>
            <a:off x="7400925" y="4686300"/>
            <a:ext cx="40576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D8E7"/>
              </a:buClr>
              <a:buSzPts val="1800"/>
              <a:buFont typeface="Quattrocento Sans"/>
              <a:buNone/>
            </a:pPr>
            <a:r>
              <a:rPr b="0" lang="en-US" sz="1800">
                <a:solidFill>
                  <a:srgbClr val="D3D8E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Инфраструктура и резерв</a:t>
            </a: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723900" y="5457825"/>
            <a:ext cx="10668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Quattrocento Sans"/>
              <a:buNone/>
            </a:pPr>
            <a:r>
              <a:rPr b="0" lang="en-US" sz="2175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Цель: 50 завершённых работ и 10 оплат в пилоте</a:t>
            </a:r>
            <a:endParaRPr/>
          </a:p>
        </p:txBody>
      </p:sp>
      <p:sp>
        <p:nvSpPr>
          <p:cNvPr id="178" name="Google Shape;178;p12"/>
          <p:cNvSpPr/>
          <p:nvPr/>
        </p:nvSpPr>
        <p:spPr>
          <a:xfrm>
            <a:off x="723900" y="6181725"/>
            <a:ext cx="5619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BCDF"/>
              </a:buClr>
              <a:buSzPts val="1725"/>
              <a:buFont typeface="Quattrocento Sans"/>
              <a:buNone/>
            </a:pPr>
            <a:r>
              <a:rPr b="0" lang="en-US" sz="1725">
                <a:solidFill>
                  <a:srgbClr val="B5BCD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branched.ru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